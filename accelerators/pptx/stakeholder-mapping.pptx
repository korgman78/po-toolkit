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A1D2E"/>
                </a:solidFill>
                <a:latin typeface="Calibri"/>
              </a:defRPr>
            </a:pPr>
            <a:r>
              <a:t>Stakeholder Mapping — Matrice Pouvoir / Interet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A5F7A"/>
                </a:solidFill>
                <a:latin typeface="Calibri"/>
              </a:defRPr>
            </a:pPr>
            <a:r>
              <a:t>Positionnez vos parties prenantes pour adapter votre strategie de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004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5F7A"/>
                </a:solidFill>
                <a:latin typeface="Calibri"/>
              </a:defRPr>
            </a:pPr>
            <a:r>
              <a:t>POUVOIR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5A5F7A"/>
                </a:solidFill>
                <a:latin typeface="Calibri"/>
              </a:defRPr>
            </a:pPr>
            <a:r>
              <a:t>INTERET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280160"/>
            <a:ext cx="4846320" cy="2286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417319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Calibri"/>
              </a:defRPr>
            </a:pPr>
            <a:r>
              <a:t>GARDER SATISFAIT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44805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5F7A"/>
                </a:solidFill>
                <a:latin typeface="Calibri"/>
              </a:defRPr>
            </a:pPr>
            <a:r>
              <a:t>Haut pouvoir / Faible interet</a:t>
            </a:r>
            <a:br/>
            <a:r>
              <a:t>Informer regulierement</a:t>
            </a:r>
          </a:p>
        </p:txBody>
      </p:sp>
      <p:sp>
        <p:nvSpPr>
          <p:cNvPr id="10" name="Oval 9"/>
          <p:cNvSpPr/>
          <p:nvPr/>
        </p:nvSpPr>
        <p:spPr>
          <a:xfrm>
            <a:off x="2103120" y="26517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S1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26517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S2</a:t>
            </a:r>
          </a:p>
        </p:txBody>
      </p:sp>
      <p:sp>
        <p:nvSpPr>
          <p:cNvPr id="12" name="Oval 11"/>
          <p:cNvSpPr/>
          <p:nvPr/>
        </p:nvSpPr>
        <p:spPr>
          <a:xfrm>
            <a:off x="4846320" y="2651760"/>
            <a:ext cx="731520" cy="7315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280160"/>
            <a:ext cx="4846320" cy="22860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17319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EF4444"/>
                </a:solidFill>
                <a:latin typeface="Calibri"/>
              </a:defRPr>
            </a:pPr>
            <a:r>
              <a:t>GERER DE PRES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828800"/>
            <a:ext cx="44805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5F7A"/>
                </a:solidFill>
                <a:latin typeface="Calibri"/>
              </a:defRPr>
            </a:pPr>
            <a:r>
              <a:t>Haut pouvoir / Haut interet</a:t>
            </a:r>
            <a:br/>
            <a:r>
              <a:t>Engager activement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0" y="265176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S1</a:t>
            </a:r>
          </a:p>
        </p:txBody>
      </p:sp>
      <p:sp>
        <p:nvSpPr>
          <p:cNvPr id="17" name="Oval 16"/>
          <p:cNvSpPr/>
          <p:nvPr/>
        </p:nvSpPr>
        <p:spPr>
          <a:xfrm>
            <a:off x="8503920" y="265176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S2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0" y="2651760"/>
            <a:ext cx="731520" cy="73152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3840480"/>
            <a:ext cx="4846320" cy="2286000"/>
          </a:xfrm>
          <a:prstGeom prst="roundRect">
            <a:avLst/>
          </a:prstGeom>
          <a:solidFill>
            <a:srgbClr val="F0F2F7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3977640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A5F7A"/>
                </a:solidFill>
                <a:latin typeface="Calibri"/>
              </a:defRPr>
            </a:pPr>
            <a:r>
              <a:t>EFFORT MINIMAL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389120"/>
            <a:ext cx="44805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5F7A"/>
                </a:solidFill>
                <a:latin typeface="Calibri"/>
              </a:defRPr>
            </a:pPr>
            <a:r>
              <a:t>Faible pouvoir / Faible interet</a:t>
            </a:r>
            <a:br/>
            <a:r>
              <a:t>Monitorer</a:t>
            </a:r>
          </a:p>
        </p:txBody>
      </p:sp>
      <p:sp>
        <p:nvSpPr>
          <p:cNvPr id="22" name="Oval 21"/>
          <p:cNvSpPr/>
          <p:nvPr/>
        </p:nvSpPr>
        <p:spPr>
          <a:xfrm>
            <a:off x="2103120" y="5212080"/>
            <a:ext cx="731520" cy="731520"/>
          </a:xfrm>
          <a:prstGeom prst="ellipse">
            <a:avLst/>
          </a:prstGeom>
          <a:solidFill>
            <a:srgbClr val="5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S1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0" y="5212080"/>
            <a:ext cx="731520" cy="731520"/>
          </a:xfrm>
          <a:prstGeom prst="ellipse">
            <a:avLst/>
          </a:prstGeom>
          <a:solidFill>
            <a:srgbClr val="5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S2</a:t>
            </a:r>
          </a:p>
        </p:txBody>
      </p:sp>
      <p:sp>
        <p:nvSpPr>
          <p:cNvPr id="24" name="Oval 23"/>
          <p:cNvSpPr/>
          <p:nvPr/>
        </p:nvSpPr>
        <p:spPr>
          <a:xfrm>
            <a:off x="4846320" y="5212080"/>
            <a:ext cx="731520" cy="731520"/>
          </a:xfrm>
          <a:prstGeom prst="ellipse">
            <a:avLst/>
          </a:prstGeom>
          <a:solidFill>
            <a:srgbClr val="5A5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840480"/>
            <a:ext cx="4846320" cy="22860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77640"/>
            <a:ext cx="44805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Calibri"/>
              </a:defRPr>
            </a:pPr>
            <a:r>
              <a:t>GARDER INFORME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389120"/>
            <a:ext cx="448055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5F7A"/>
                </a:solidFill>
                <a:latin typeface="Calibri"/>
              </a:defRPr>
            </a:pPr>
            <a:r>
              <a:t>Faible pouvoir / Haut interet</a:t>
            </a:r>
            <a:br/>
            <a:r>
              <a:t>Informer et consulter</a:t>
            </a:r>
          </a:p>
        </p:txBody>
      </p:sp>
      <p:sp>
        <p:nvSpPr>
          <p:cNvPr id="28" name="Oval 27"/>
          <p:cNvSpPr/>
          <p:nvPr/>
        </p:nvSpPr>
        <p:spPr>
          <a:xfrm>
            <a:off x="7132320" y="521208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S1</a:t>
            </a:r>
          </a:p>
        </p:txBody>
      </p:sp>
      <p:sp>
        <p:nvSpPr>
          <p:cNvPr id="29" name="Oval 28"/>
          <p:cNvSpPr/>
          <p:nvPr/>
        </p:nvSpPr>
        <p:spPr>
          <a:xfrm>
            <a:off x="8503920" y="521208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S2</a:t>
            </a:r>
          </a:p>
        </p:txBody>
      </p:sp>
      <p:sp>
        <p:nvSpPr>
          <p:cNvPr id="30" name="Oval 29"/>
          <p:cNvSpPr/>
          <p:nvPr/>
        </p:nvSpPr>
        <p:spPr>
          <a:xfrm>
            <a:off x="9875520" y="5212080"/>
            <a:ext cx="731520" cy="7315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5F7A"/>
                </a:solidFill>
                <a:latin typeface="Calibri"/>
              </a:defRPr>
            </a:pPr>
            <a:r>
              <a:t>PO Ultimate Toolkit — Stakeholder Mapping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109728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1D2E"/>
                </a:solidFill>
                <a:latin typeface="Calibri"/>
              </a:defRPr>
            </a:pPr>
            <a:r>
              <a:t>Stakeholder Mapping —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A5F7A"/>
                </a:solidFill>
                <a:latin typeface="Calibri"/>
              </a:defRPr>
            </a:pPr>
            <a:r>
              <a:t>Matrice pouvoir/intérêt pour adapter votre stratégie de communication à chaque partie prenante.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30352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Pourquoi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Identifier qui a du pouvoir et de l'intérêt sur votre produit.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Adapter la fréquence et le format de communication à chaque profil.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Éviter les surprises : un stakeholder puissant ignoré peut bloquer le projet.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Prioriser votre temps de communication (ressource la plus rare du PO).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486400" cy="3200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Comment l'utiliser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24688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Listez toutes vos parties prenantes (internes et externes).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Évaluez leur pouvoir (capacité à impacter le projet) de 1 à 10.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Évaluez leur intérêt (engagement envers le projet) de 1 à 10.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Placez-les dans la matrice 2×2.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Définissez une stratégie par quadrant.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Créez un plan de communication avec fréquence et format par personne.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• Réévaluez la cartographie tous les trimestres.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1064240" cy="1645920"/>
          </a:xfrm>
          <a:prstGeom prst="roundRect">
            <a:avLst/>
          </a:prstGeom>
          <a:solidFill>
            <a:srgbClr val="F8F9FC"/>
          </a:solidFill>
          <a:ln w="12700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366F1"/>
                </a:solidFill>
                <a:latin typeface="Calibri"/>
              </a:defRPr>
            </a:pPr>
            <a:r>
              <a:t>Tips &amp; Bonnes pratiques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12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Gérer de près : réunions régulières, implication dans les décisions.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Garder satisfait : informer proactivement, pas de surprises.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Garder informé : newsletters, Sprint Reviews, dashboards.</a:t>
            </a:r>
          </a:p>
          <a:p>
            <a:pPr>
              <a:spcBef>
                <a:spcPts val="300"/>
              </a:spcBef>
              <a:defRPr sz="900">
                <a:solidFill>
                  <a:srgbClr val="5A5F7A"/>
                </a:solidFill>
                <a:latin typeface="Calibri"/>
              </a:defRPr>
            </a:pPr>
            <a:r>
              <a:t>→ Effort minimal : communication passive (wiki, changelog).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0A4B8"/>
                </a:solidFill>
                <a:latin typeface="Calibri"/>
              </a:defRPr>
            </a:pPr>
            <a:r>
              <a:t>PO Ultimate Toolkit — Stakeholder Mapping — Guide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