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8"/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PRODUCT CANVAS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97280"/>
            <a:ext cx="3657600" cy="3200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VISION PRODUIT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444752"/>
            <a:ext cx="3657600" cy="932688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5A5F7A"/>
                </a:solidFill>
                <a:latin typeface="Calibri"/>
              </a:defRPr>
            </a:pPr>
            <a:r>
              <a:t>Quelle est la vision long terme du produit ?</a:t>
            </a:r>
            <a:br/>
            <a:r>
              <a:t>Quel probleme fondamental resolvons-nous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097280"/>
            <a:ext cx="3657600" cy="32004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PERSONAS CIBLES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444752"/>
            <a:ext cx="3657600" cy="932688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5A5F7A"/>
                </a:solidFill>
                <a:latin typeface="Calibri"/>
              </a:defRPr>
            </a:pPr>
            <a:r>
              <a:t>Qui sont nos utilisateurs principaux ?</a:t>
            </a:r>
            <a:br/>
            <a:r>
              <a:t>Quels sont leurs profils et comportements 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097280"/>
            <a:ext cx="3657600" cy="32004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PROBLEMES / BESOINS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444752"/>
            <a:ext cx="3657600" cy="932688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5A5F7A"/>
                </a:solidFill>
                <a:latin typeface="Calibri"/>
              </a:defRPr>
            </a:pPr>
            <a:r>
              <a:t>Quels sont les top 3 problemes de nos users ?</a:t>
            </a:r>
            <a:br/>
            <a:r>
              <a:t>Quels jobs-to-be-done adressons-nous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2651760"/>
            <a:ext cx="365760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PROPOSITION DE VALEUR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999232"/>
            <a:ext cx="3657600" cy="932688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5A5F7A"/>
                </a:solidFill>
                <a:latin typeface="Calibri"/>
              </a:defRPr>
            </a:pPr>
            <a:r>
              <a:t>Quelle valeur unique apportons-nous ?</a:t>
            </a:r>
            <a:br/>
            <a:r>
              <a:t>En quoi sommes-nous differents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2651760"/>
            <a:ext cx="3657600" cy="3200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SOLUTIONS CLES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2999232"/>
            <a:ext cx="3657600" cy="932688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5A5F7A"/>
                </a:solidFill>
                <a:latin typeface="Calibri"/>
              </a:defRPr>
            </a:pPr>
            <a:r>
              <a:t>Quelles fonctionnalites repondent aux besoins ?</a:t>
            </a:r>
            <a:br/>
            <a:r>
              <a:t>Quels sont les differenciateurs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651760"/>
            <a:ext cx="365760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AVANTAGE COMPETITIF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999232"/>
            <a:ext cx="3657600" cy="932688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5A5F7A"/>
                </a:solidFill>
                <a:latin typeface="Calibri"/>
              </a:defRPr>
            </a:pPr>
            <a:r>
              <a:t>Qu'est-ce qui est difficile a copier ?</a:t>
            </a:r>
            <a:br/>
            <a:r>
              <a:t>Quel est notre moat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4206240"/>
            <a:ext cx="566928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METRIQUES DE SUCCES (KPIs)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4553712"/>
            <a:ext cx="5669280" cy="932688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5A5F7A"/>
                </a:solidFill>
                <a:latin typeface="Calibri"/>
              </a:defRPr>
            </a:pPr>
            <a:r>
              <a:t>North Star Metric :</a:t>
            </a:r>
            <a:br/>
            <a:r>
              <a:t>KPI 1 :                    KPI 2 :                    KPI 3 :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206240"/>
            <a:ext cx="5577840" cy="320040"/>
          </a:xfrm>
          <a:prstGeom prst="roundRect">
            <a:avLst/>
          </a:prstGeom>
          <a:solidFill>
            <a:srgbClr val="5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CANAUX &amp; DISTRIBUTION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553712"/>
            <a:ext cx="5577840" cy="932688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5A5F7A"/>
                </a:solidFill>
                <a:latin typeface="Calibri"/>
              </a:defRPr>
            </a:pPr>
            <a:r>
              <a:t>Comment les users decouvrent le produit ?</a:t>
            </a:r>
            <a:br/>
            <a:r>
              <a:t>Quels canaux d'acquisition 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5760720"/>
            <a:ext cx="5669280" cy="32004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RISQUES &amp; HYPOTHESES A VALIDER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6108192"/>
            <a:ext cx="5669280" cy="475488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5A5F7A"/>
                </a:solidFill>
                <a:latin typeface="Calibri"/>
              </a:defRPr>
            </a:pPr>
            <a:r>
              <a:t>Hypothese 1 :                    Hypothese 2 :                    Hypothese 3 :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5760720"/>
            <a:ext cx="5577840" cy="3200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PROCHAINES ETAPES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6108192"/>
            <a:ext cx="5577840" cy="475488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5A5F7A"/>
                </a:solidFill>
                <a:latin typeface="Calibri"/>
              </a:defRPr>
            </a:pPr>
            <a:r>
              <a:t>Action 1 :                    Action 2 :                    Action 3 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5F7A"/>
                </a:solidFill>
                <a:latin typeface="Calibri"/>
              </a:defRPr>
            </a:pPr>
            <a:r>
              <a:t>PO Ultimate Toolkit — Product Canvas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1097280" cy="3200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D2E"/>
                </a:solidFill>
                <a:latin typeface="Calibri"/>
              </a:defRPr>
            </a:pPr>
            <a:r>
              <a:t>Product Canvas —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5A5F7A"/>
                </a:solidFill>
                <a:latin typeface="Calibri"/>
              </a:defRPr>
            </a:pPr>
            <a:r>
              <a:t>Un outil visuel pour aligner l'équipe sur la vision, les personas et la proposition de valeur du produit.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5303520" cy="3200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Pourquoi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900">
                <a:solidFill>
                  <a:srgbClr val="5A5F7A"/>
                </a:solidFill>
                <a:latin typeface="Calibri"/>
              </a:defRPr>
            </a:pPr>
            <a:r>
              <a:t>• Aligner toute l'équipe sur la vision produit en un seul artefact.</a:t>
            </a:r>
          </a:p>
          <a:p>
            <a:pPr>
              <a:spcBef>
                <a:spcPts val="300"/>
              </a:spcBef>
              <a:defRPr sz="900">
                <a:solidFill>
                  <a:srgbClr val="5A5F7A"/>
                </a:solidFill>
                <a:latin typeface="Calibri"/>
              </a:defRPr>
            </a:pPr>
            <a:r>
              <a:t>• Forcer la réflexion sur les 10 dimensions clés du produit.</a:t>
            </a:r>
          </a:p>
          <a:p>
            <a:pPr>
              <a:spcBef>
                <a:spcPts val="300"/>
              </a:spcBef>
              <a:defRPr sz="900">
                <a:solidFill>
                  <a:srgbClr val="5A5F7A"/>
                </a:solidFill>
                <a:latin typeface="Calibri"/>
              </a:defRPr>
            </a:pPr>
            <a:r>
              <a:t>• Créer un document de référence vivant, à mettre à jour chaque trimestre.</a:t>
            </a:r>
          </a:p>
          <a:p>
            <a:pPr>
              <a:spcBef>
                <a:spcPts val="300"/>
              </a:spcBef>
              <a:defRPr sz="900">
                <a:solidFill>
                  <a:srgbClr val="5A5F7A"/>
                </a:solidFill>
                <a:latin typeface="Calibri"/>
              </a:defRPr>
            </a:pPr>
            <a:r>
              <a:t>• Faciliter la communication avec les stakeholders et les nouvelles recrues.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486400" cy="3200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Comment l'utiliser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59" y="246888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900">
                <a:solidFill>
                  <a:srgbClr val="5A5F7A"/>
                </a:solidFill>
                <a:latin typeface="Calibri"/>
              </a:defRPr>
            </a:pPr>
            <a:r>
              <a:t>• Organisez un atelier de 2h avec PO, dev leads et stakeholders.</a:t>
            </a:r>
          </a:p>
          <a:p>
            <a:pPr>
              <a:spcBef>
                <a:spcPts val="300"/>
              </a:spcBef>
              <a:defRPr sz="900">
                <a:solidFill>
                  <a:srgbClr val="5A5F7A"/>
                </a:solidFill>
                <a:latin typeface="Calibri"/>
              </a:defRPr>
            </a:pPr>
            <a:r>
              <a:t>• Commencez par la Vision (pourquoi ce produit existe).</a:t>
            </a:r>
          </a:p>
          <a:p>
            <a:pPr>
              <a:spcBef>
                <a:spcPts val="300"/>
              </a:spcBef>
              <a:defRPr sz="900">
                <a:solidFill>
                  <a:srgbClr val="5A5F7A"/>
                </a:solidFill>
                <a:latin typeface="Calibri"/>
              </a:defRPr>
            </a:pPr>
            <a:r>
              <a:t>• Identifiez 2-3 personas cibles concrets.</a:t>
            </a:r>
          </a:p>
          <a:p>
            <a:pPr>
              <a:spcBef>
                <a:spcPts val="300"/>
              </a:spcBef>
              <a:defRPr sz="900">
                <a:solidFill>
                  <a:srgbClr val="5A5F7A"/>
                </a:solidFill>
                <a:latin typeface="Calibri"/>
              </a:defRPr>
            </a:pPr>
            <a:r>
              <a:t>• Listez les top 3 problèmes/besoins des utilisateurs.</a:t>
            </a:r>
          </a:p>
          <a:p>
            <a:pPr>
              <a:spcBef>
                <a:spcPts val="300"/>
              </a:spcBef>
              <a:defRPr sz="900">
                <a:solidFill>
                  <a:srgbClr val="5A5F7A"/>
                </a:solidFill>
                <a:latin typeface="Calibri"/>
              </a:defRPr>
            </a:pPr>
            <a:r>
              <a:t>• Formulez votre proposition de valeur unique.</a:t>
            </a:r>
          </a:p>
          <a:p>
            <a:pPr>
              <a:spcBef>
                <a:spcPts val="300"/>
              </a:spcBef>
              <a:defRPr sz="900">
                <a:solidFill>
                  <a:srgbClr val="5A5F7A"/>
                </a:solidFill>
                <a:latin typeface="Calibri"/>
              </a:defRPr>
            </a:pPr>
            <a:r>
              <a:t>• Définissez les métriques de succès (North Star + KPIs).</a:t>
            </a:r>
          </a:p>
          <a:p>
            <a:pPr>
              <a:spcBef>
                <a:spcPts val="300"/>
              </a:spcBef>
              <a:defRPr sz="900">
                <a:solidFill>
                  <a:srgbClr val="5A5F7A"/>
                </a:solidFill>
                <a:latin typeface="Calibri"/>
              </a:defRPr>
            </a:pPr>
            <a:r>
              <a:t>• Identifiez les risques et hypothèses à valider.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754880"/>
            <a:ext cx="11064240" cy="164592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8463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Calibri"/>
              </a:defRPr>
            </a:pPr>
            <a:r>
              <a:t>Tips &amp; Bonnes pratiques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2120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900">
                <a:solidFill>
                  <a:srgbClr val="5A5F7A"/>
                </a:solidFill>
                <a:latin typeface="Calibri"/>
              </a:defRPr>
            </a:pPr>
            <a:r>
              <a:t>→ Le canvas n'est jamais "fini" — revisitez-le tous les trimestres.</a:t>
            </a:r>
          </a:p>
          <a:p>
            <a:pPr>
              <a:spcBef>
                <a:spcPts val="300"/>
              </a:spcBef>
              <a:defRPr sz="900">
                <a:solidFill>
                  <a:srgbClr val="5A5F7A"/>
                </a:solidFill>
                <a:latin typeface="Calibri"/>
              </a:defRPr>
            </a:pPr>
            <a:r>
              <a:t>→ Utilisez des post-its lors de l'atelier, puis consolidez.</a:t>
            </a:r>
          </a:p>
          <a:p>
            <a:pPr>
              <a:spcBef>
                <a:spcPts val="300"/>
              </a:spcBef>
              <a:defRPr sz="900">
                <a:solidFill>
                  <a:srgbClr val="5A5F7A"/>
                </a:solidFill>
                <a:latin typeface="Calibri"/>
              </a:defRPr>
            </a:pPr>
            <a:r>
              <a:t>→ La Vision doit tenir en une phrase.</a:t>
            </a:r>
          </a:p>
          <a:p>
            <a:pPr>
              <a:spcBef>
                <a:spcPts val="300"/>
              </a:spcBef>
              <a:defRPr sz="900">
                <a:solidFill>
                  <a:srgbClr val="5A5F7A"/>
                </a:solidFill>
                <a:latin typeface="Calibri"/>
              </a:defRPr>
            </a:pPr>
            <a:r>
              <a:t>→ Les métriques doivent être actionnables, pas vanity metrics.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0A4B8"/>
                </a:solidFill>
                <a:latin typeface="Calibri"/>
              </a:defRPr>
            </a:pPr>
            <a:r>
              <a:t>PO Ultimate Toolkit — Product Canvas — Guide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